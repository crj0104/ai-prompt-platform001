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b4e8cecaab43e0" /><Relationship Type="http://schemas.openxmlformats.org/officeDocument/2006/relationships/extended-properties" Target="/docProps/app.xml" Id="Rc8742e3f597b4511" /><Relationship Type="http://schemas.openxmlformats.org/officeDocument/2006/relationships/officeDocument" Target="/ppt/presentation.xml" Id="R8173f561c5f244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edb59ae55145bc"/>
  </p:sldMasterIdLst>
  <p:notesMasterIdLst>
    <p:notesMasterId xmlns:r="http://schemas.openxmlformats.org/officeDocument/2006/relationships" r:id="Rc6ba7e4d898d45f3"/>
  </p:notesMasterIdLst>
  <p:sldIdLst>
    <p:sldId xmlns:r="http://schemas.openxmlformats.org/officeDocument/2006/relationships" id="256" r:id="Rfd985ec21fc4446b"/>
    <p:sldId xmlns:r="http://schemas.openxmlformats.org/officeDocument/2006/relationships" id="257" r:id="Rb28456300d26472e"/>
    <p:sldId xmlns:r="http://schemas.openxmlformats.org/officeDocument/2006/relationships" id="258" r:id="R95e4ce7c6be84e51"/>
    <p:sldId xmlns:r="http://schemas.openxmlformats.org/officeDocument/2006/relationships" id="259" r:id="Rbfc8668e0d4a462d"/>
    <p:sldId xmlns:r="http://schemas.openxmlformats.org/officeDocument/2006/relationships" id="260" r:id="R3d96a421a19a4584"/>
    <p:sldId xmlns:r="http://schemas.openxmlformats.org/officeDocument/2006/relationships" id="261" r:id="R0b63285a4d6c477f"/>
    <p:sldId xmlns:r="http://schemas.openxmlformats.org/officeDocument/2006/relationships" id="262" r:id="R491c224ae67344b2"/>
    <p:sldId xmlns:r="http://schemas.openxmlformats.org/officeDocument/2006/relationships" id="263" r:id="Rb217a2c5de0443ea"/>
    <p:sldId xmlns:r="http://schemas.openxmlformats.org/officeDocument/2006/relationships" id="264" r:id="Re7d766ad957e4c4f"/>
    <p:sldId xmlns:r="http://schemas.openxmlformats.org/officeDocument/2006/relationships" id="265" r:id="Ra34a71b655f340e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0e90b89f2f4c8c" /><Relationship Type="http://schemas.openxmlformats.org/officeDocument/2006/relationships/slideMaster" Target="/ppt/slideMasters/slideMaster1.xml" Id="Rebedb59ae55145bc" /><Relationship Type="http://schemas.openxmlformats.org/officeDocument/2006/relationships/notesMaster" Target="/ppt/notesMasters/notesMaster1.xml" Id="Rc6ba7e4d898d45f3" /><Relationship Type="http://schemas.openxmlformats.org/officeDocument/2006/relationships/presProps" Target="/ppt/presProps.xml" Id="R5f90234da10a4e3f" /><Relationship Type="http://schemas.openxmlformats.org/officeDocument/2006/relationships/tableStyles" Target="/ppt/tableStyles.xml" Id="Rc8e9b5d3c5254f39" /><Relationship Type="http://schemas.openxmlformats.org/officeDocument/2006/relationships/slide" Target="/ppt/slides/slide1.xml" Id="Rfd985ec21fc4446b" /><Relationship Type="http://schemas.openxmlformats.org/officeDocument/2006/relationships/slide" Target="/ppt/slides/slide2.xml" Id="Rb28456300d26472e" /><Relationship Type="http://schemas.openxmlformats.org/officeDocument/2006/relationships/slide" Target="/ppt/slides/slide3.xml" Id="R95e4ce7c6be84e51" /><Relationship Type="http://schemas.openxmlformats.org/officeDocument/2006/relationships/slide" Target="/ppt/slides/slide4.xml" Id="Rbfc8668e0d4a462d" /><Relationship Type="http://schemas.openxmlformats.org/officeDocument/2006/relationships/slide" Target="/ppt/slides/slide5.xml" Id="R3d96a421a19a4584" /><Relationship Type="http://schemas.openxmlformats.org/officeDocument/2006/relationships/slide" Target="/ppt/slides/slide6.xml" Id="R0b63285a4d6c477f" /><Relationship Type="http://schemas.openxmlformats.org/officeDocument/2006/relationships/slide" Target="/ppt/slides/slide7.xml" Id="R491c224ae67344b2" /><Relationship Type="http://schemas.openxmlformats.org/officeDocument/2006/relationships/slide" Target="/ppt/slides/slide8.xml" Id="Rb217a2c5de0443ea" /><Relationship Type="http://schemas.openxmlformats.org/officeDocument/2006/relationships/slide" Target="/ppt/slides/slide9.xml" Id="Re7d766ad957e4c4f" /><Relationship Type="http://schemas.openxmlformats.org/officeDocument/2006/relationships/slide" Target="/ppt/slides/slide10.xml" Id="Ra34a71b655f340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196afe360941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b9b3e0c2634015" /><Relationship Type="http://schemas.openxmlformats.org/officeDocument/2006/relationships/notesMaster" Target="/ppt/notesMasters/notesMaster1.xml" Id="Rda99c1d500a14f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9a82d47d0d4749" /><Relationship Type="http://schemas.openxmlformats.org/officeDocument/2006/relationships/notesMaster" Target="/ppt/notesMasters/notesMaster1.xml" Id="Rf4d86c8876d242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57374275194ff0" /><Relationship Type="http://schemas.openxmlformats.org/officeDocument/2006/relationships/notesMaster" Target="/ppt/notesMasters/notesMaster1.xml" Id="R0657b4d8d32348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48490b14e34a49" /><Relationship Type="http://schemas.openxmlformats.org/officeDocument/2006/relationships/notesMaster" Target="/ppt/notesMasters/notesMaster1.xml" Id="Rd397ed5128b746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0b244fcd174869" /><Relationship Type="http://schemas.openxmlformats.org/officeDocument/2006/relationships/notesMaster" Target="/ppt/notesMasters/notesMaster1.xml" Id="R0b476b2d95a748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ca6ceff24248b8" /><Relationship Type="http://schemas.openxmlformats.org/officeDocument/2006/relationships/notesMaster" Target="/ppt/notesMasters/notesMaster1.xml" Id="Rde851e648b4c4e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62ad7fe1d348fe" /><Relationship Type="http://schemas.openxmlformats.org/officeDocument/2006/relationships/notesMaster" Target="/ppt/notesMasters/notesMaster1.xml" Id="R626ac3ea647341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ca2d6876914dca" /><Relationship Type="http://schemas.openxmlformats.org/officeDocument/2006/relationships/notesMaster" Target="/ppt/notesMasters/notesMaster1.xml" Id="R286595ed6a244d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e720da73bd46b3" /><Relationship Type="http://schemas.openxmlformats.org/officeDocument/2006/relationships/notesMaster" Target="/ppt/notesMasters/notesMaster1.xml" Id="R5cdc8d4d088c49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4a4b9b39b7495e" /><Relationship Type="http://schemas.openxmlformats.org/officeDocument/2006/relationships/notesMaster" Target="/ppt/notesMasters/notesMaster1.xml" Id="R5c66828577784f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16637d4d9b48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fb652e883f40c9" /><Relationship Type="http://schemas.openxmlformats.org/officeDocument/2006/relationships/slideLayout" Target="/ppt/slideLayouts/slideLayout1.xml" Id="R82cdd9544a674b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cdd9544a674b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e29f380b34b66" /><Relationship Type="http://schemas.openxmlformats.org/officeDocument/2006/relationships/notesSlide" Target="/ppt/notesSlides/notesSlide1.xml" Id="Ra2f810caad6649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3da3f7c554d79" /><Relationship Type="http://schemas.openxmlformats.org/officeDocument/2006/relationships/notesSlide" Target="/ppt/notesSlides/notesSlide2.xml" Id="Rb0046eed9ee348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a1434a1324a97" /><Relationship Type="http://schemas.openxmlformats.org/officeDocument/2006/relationships/notesSlide" Target="/ppt/notesSlides/notesSlide3.xml" Id="Rfb78ebb84d7446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4da6cb37f44cd" /><Relationship Type="http://schemas.openxmlformats.org/officeDocument/2006/relationships/notesSlide" Target="/ppt/notesSlides/notesSlide4.xml" Id="Re28706f21fbb40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ac997ade149fd" /><Relationship Type="http://schemas.openxmlformats.org/officeDocument/2006/relationships/notesSlide" Target="/ppt/notesSlides/notesSlide5.xml" Id="Rb6f7ba3a3f9b44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6bb08396845bf" /><Relationship Type="http://schemas.openxmlformats.org/officeDocument/2006/relationships/notesSlide" Target="/ppt/notesSlides/notesSlide6.xml" Id="R223f0646e05440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e1fe3d53e48cd" /><Relationship Type="http://schemas.openxmlformats.org/officeDocument/2006/relationships/notesSlide" Target="/ppt/notesSlides/notesSlide7.xml" Id="Rd462dc1420844d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38763f9fb4df6" /><Relationship Type="http://schemas.openxmlformats.org/officeDocument/2006/relationships/notesSlide" Target="/ppt/notesSlides/notesSlide8.xml" Id="R1c491ca5a94546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49a40ee2b428c" /><Relationship Type="http://schemas.openxmlformats.org/officeDocument/2006/relationships/notesSlide" Target="/ppt/notesSlides/notesSlide9.xml" Id="Rca2429a0720941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f3bf6ac0d4720" /><Relationship Type="http://schemas.openxmlformats.org/officeDocument/2006/relationships/notesSlide" Target="/ppt/notesSlides/notesSlide10.xml" Id="R17ebb3853f7c4a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E8180A-ED4E-4191-921D-F46A6E54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数据库原理课程设计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2C223-8C11-40D0-BE09-BECC6755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12502-F7AC-4AC3-BB3A-C1D44D02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8001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AI提示词模板平台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ED2D5-8FF0-44F0-903F-E6572C5C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围绕模板版本、交易使用、评价统计构建的数据库应用系统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9949D-C6D3-447E-9187-DF0C668A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24000"/>
            <a:ext cx="29337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6E74EF-3168-49FE-AD93-5D5D5D73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85950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AI</a:t>
            </a:r>
          </a:p>
          <a:p xmlns:a="http://schemas.openxmlformats.org/drawingml/2006/main">
            <a:pPr algn="ctr"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Prompt</a:t>
            </a:r>
          </a:p>
          <a:p xmlns:a="http://schemas.openxmlformats.org/drawingml/2006/main">
            <a:pPr algn="ctr"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5E982-E836-4D0E-8AAE-C9D7577F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Spring Boot / MyBatis-Plus / H2 / MySQL / Frontend</a:t>
            </a:r>
          </a:p>
        </p:txBody>
      </p:sp>
    </p:spTree>
    <p:extLst>
      <p:ext uri="{BB962C8B-B14F-4D97-AF65-F5344CB8AC3E}">
        <p14:creationId xmlns:p14="http://schemas.microsoft.com/office/powerpoint/2010/main" val="205827873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8655B2-F24A-4EA0-B883-3F390536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课题要解决的是提示词模板的完整业务闭环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857BA-7508-4934-AC82-3ADFE4D2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系统不是单纯模板列表，而是覆盖检索、交易、使用、评价和统计。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0FF50-E74C-4606-85B3-5729A2FF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3FF5C-0938-4955-B152-E261743A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3333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42CDE-F7E0-4D4A-B1BD-2EBB6EE1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设计目标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0129E-9B4F-4E7D-B5B7-00E37B05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990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实现一个可运行、可演示、结构清晰的前后端分离数据库应用系统。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B7D21-EDB1-44E9-8E56-AEE7DEA4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90700"/>
            <a:ext cx="3333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1CE1F5-3A2F-48A7-8C42-FFDE403D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6215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设计要求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43C298-8952-441C-B0A3-5B379B80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19350"/>
            <a:ext cx="2990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完成需求分析、E-R模型、逻辑和物理设计、功能实现、并发与查询优化实验。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1DA501-5C7D-4281-8B64-5D4A2B9C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90700"/>
            <a:ext cx="3333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D83D3D-065F-4F23-B065-538C7B4A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6215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小组分工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E868C2-DD57-41F2-BA23-295F6DEF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19350"/>
            <a:ext cx="2990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成员A负责数据库与后端；成员B负责前端、测试、文档和演示材料。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583813-A433-4A8D-80C0-C7D6CF67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6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715288-6FCD-4C8C-8E0F-C4944FEA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908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数据库表结构覆盖核心业务数据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058060-77AE-4737-8E2E-A70F5FB7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81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4E4FEA-4929-40C7-9D5B-CD7BF1A9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908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后端统一编排服务组织领域流程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B170AF-342A-487D-805E-8FC29906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76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A82857-0867-440B-A7C4-FEAC39DB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908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前端独立调用 REST API 完成演示</a:t>
            </a:r>
          </a:p>
        </p:txBody>
      </p:sp>
    </p:spTree>
    <p:extLst>
      <p:ext uri="{BB962C8B-B14F-4D97-AF65-F5344CB8AC3E}">
        <p14:creationId xmlns:p14="http://schemas.microsoft.com/office/powerpoint/2010/main" val="20396367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92F083-27EE-4C52-B323-07EAD379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三类用户共同驱动系统功能划分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4C868-2F3E-4A21-944D-06825C8A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普通用户、创作者、管理员分别对应消费、生产和平台治理视角。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EFD4C-F9C5-43BF-8126-C72B35FC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C9C52-D4F9-4CB5-9595-48B9E32A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1123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447F5-A32D-42B7-9A2F-1E65889E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角色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435F0-B9B3-479C-8FBD-9F1F91CA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431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核心用例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D93CB-A7C9-4C97-BB98-079B3ABD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431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系统响应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A1454A-E057-4B9E-8E8D-491E6844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52700"/>
            <a:ext cx="1123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1B3021-813C-4B54-A27D-9000644D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111"/>
                </a:solidFill>
              </a:defRPr>
            </a:pPr>
            <a:r>
              <a:rPr sz="1163" b="0">
                <a:solidFill>
                  <a:srgbClr val="111111"/>
                </a:solidFill>
              </a:rPr>
              <a:t>普通用户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F0DAF5-1E95-4BA3-861A-7F37EFC5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67000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55555"/>
                </a:solidFill>
              </a:defRPr>
            </a:pPr>
            <a:r>
              <a:rPr sz="1163" b="0">
                <a:solidFill>
                  <a:srgbClr val="555555"/>
                </a:solidFill>
              </a:rPr>
              <a:t>搜索、收藏、购买、使用、评价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9AC66B-C9F4-45A8-B568-6EE66E2B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670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55555"/>
                </a:solidFill>
              </a:defRPr>
            </a:pPr>
            <a:r>
              <a:rPr sz="1163" b="0">
                <a:solidFill>
                  <a:srgbClr val="555555"/>
                </a:solidFill>
              </a:rPr>
              <a:t>生成订单、校验权限、记录使用日志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53068B-9BA3-4272-9DB5-6093B894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95650"/>
            <a:ext cx="1123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F443F2-0005-472D-A240-ED0C7E34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111"/>
                </a:solidFill>
              </a:defRPr>
            </a:pPr>
            <a:r>
              <a:rPr sz="1163" b="0">
                <a:solidFill>
                  <a:srgbClr val="111111"/>
                </a:solidFill>
              </a:rPr>
              <a:t>创作者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411187-5605-4F1B-9AB1-032FC486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409950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55555"/>
                </a:solidFill>
              </a:defRPr>
            </a:pPr>
            <a:r>
              <a:rPr sz="1163" b="0">
                <a:solidFill>
                  <a:srgbClr val="555555"/>
                </a:solidFill>
              </a:rPr>
              <a:t>查看模板、版本、趋势、收益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C1250-28F4-4B18-8876-87E67186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099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55555"/>
                </a:solidFill>
              </a:defRPr>
            </a:pPr>
            <a:r>
              <a:rPr sz="1163" b="0">
                <a:solidFill>
                  <a:srgbClr val="555555"/>
                </a:solidFill>
              </a:rPr>
              <a:t>聚合模板使用量和收入数据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347B97-9BFF-4796-8F55-ECB956DC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38600"/>
            <a:ext cx="1123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380E57-67B5-41D5-A57E-15859890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111"/>
                </a:solidFill>
              </a:defRPr>
            </a:pPr>
            <a:r>
              <a:rPr sz="1163" b="0">
                <a:solidFill>
                  <a:srgbClr val="111111"/>
                </a:solidFill>
              </a:rPr>
              <a:t>管理员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418E32-7D5C-45A7-B129-A5F10DBA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52900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55555"/>
                </a:solidFill>
              </a:defRPr>
            </a:pPr>
            <a:r>
              <a:rPr sz="1163" b="0">
                <a:solidFill>
                  <a:srgbClr val="555555"/>
                </a:solidFill>
              </a:rPr>
              <a:t>查看平台总览、排行、活动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FE3313-49AD-4BD8-9AF7-33B20E0C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529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55555"/>
                </a:solidFill>
              </a:defRPr>
            </a:pPr>
            <a:r>
              <a:rPr sz="1163" b="0">
                <a:solidFill>
                  <a:srgbClr val="555555"/>
                </a:solidFill>
              </a:rPr>
              <a:t>统计用户、模板、交易和活动状态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0CD5BD-7704-47A4-A473-89AC27E2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用例关系：用户围绕模板产生收藏、订单、使用日志和评价；创作者围绕模板产生版本和统计；管理员围绕平台数据进行监控。</a:t>
            </a:r>
          </a:p>
        </p:txBody>
      </p:sp>
    </p:spTree>
    <p:extLst>
      <p:ext uri="{BB962C8B-B14F-4D97-AF65-F5344CB8AC3E}">
        <p14:creationId xmlns:p14="http://schemas.microsoft.com/office/powerpoint/2010/main" val="2841009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1A1CA8-F6D6-4ABC-B22F-EEC4EF92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后端保留统一入口，领域服务负责具体业务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471E6-BEDD-4AE4-BE1C-E4C733F1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Controller 只依赖 PortalService，应用服务再编排模板、交易、用户和统计服务。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1326A-D112-49CC-B1D8-DC958DE6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54306-213E-4C5F-A886-C7501832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14500"/>
            <a:ext cx="986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1E66C-C090-492A-8D12-26E4FF94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09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前端层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DE1FB-4E48-46B1-83BF-225EF9C6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09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frontend/index.html / app.js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32F58E-C362-452D-8F6D-245434B8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81250"/>
            <a:ext cx="986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239FD-B609-4877-A276-B882A386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76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接口层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118146-0650-4537-9E44-F7686536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765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ApiController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C85FC7-D3B8-4D01-A410-7D0E436B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48000"/>
            <a:ext cx="986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B07C5B-9AF5-48DA-91F0-ED60B907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43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编排层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769773-E543-4B7C-B077-6464581C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432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PortalApplicationService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B5E401-0338-4744-B9FA-9F89FBA0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14750"/>
            <a:ext cx="986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F4CFCC-6E0F-47F2-9CA5-14D00E8A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10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领域层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0DD996-5288-4D4E-B50E-49F62B48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100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Template / Trade / User / Dashboard / Analytics 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55A904-B326-4EC9-8315-8358EC53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0"/>
            <a:ext cx="986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40C132-5EB9-4CB6-A25D-478BD1AA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76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持久层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4340A9-EF12-4732-A526-C4DFC241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76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Mapper + XML SQL + MyBatis-Plus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0DACF9-A275-4128-84EE-F0EA57EB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48250"/>
            <a:ext cx="986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EF5160-8F00-4EA8-93B9-DC31AC79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数据库层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097BE-7232-47A2-A786-048BF991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435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H2 演示库 / MySQL 8.0</a:t>
            </a:r>
          </a:p>
        </p:txBody>
      </p:sp>
    </p:spTree>
    <p:extLst>
      <p:ext uri="{BB962C8B-B14F-4D97-AF65-F5344CB8AC3E}">
        <p14:creationId xmlns:p14="http://schemas.microsoft.com/office/powerpoint/2010/main" val="99234294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4A5D98-A093-47A9-A39E-09DF51A6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数据库概念模型围绕模板实体展开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5A998-D137-4E4A-8193-2FA64E1C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模板是中心实体，版本、标签、订单、使用和评价围绕它形成业务闭环。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1845D-88A8-4262-9C99-062FBE78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45805-8C8C-41BC-9821-7F952A2A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57500"/>
            <a:ext cx="2857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C196E-B0F1-428D-AA7B-B008FFF1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71800"/>
            <a:ext cx="2362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PromptTemplate</a:t>
            </a:r>
          </a:p>
          <a:p xmlns:a="http://schemas.openxmlformats.org/drawingml/2006/main">
            <a:pPr algn="ctr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F00DF-DAA0-4B8F-AE0F-462A0663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EED8C8-A021-4E54-9FEC-64C099EC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71675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SysUser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用户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F95AF-1EB8-44B9-BA43-BCFBB446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573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F2815-2B6D-4154-9B04-1729B841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00225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Version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模板版本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9B4DC-20C2-45C0-955D-1B3A56F0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288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0FE04F-DAF0-4DE2-8CBE-09BB8BC3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71675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Tag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标签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7880EF-FA01-4901-B304-5F26F9DF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7FDE3E-05A9-45F0-8E75-77B23137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86275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Order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订单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1591E5-43C1-4DBA-B2B0-174995B5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625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8D62C0-B49B-4D0E-B2CE-BE88A3D2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905375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UseLog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使用日志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3213EB-FEAF-40DE-A8EA-E0E80F4C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434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BC3D07-05FA-45D8-8E4E-C4E6B8C7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86275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Review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评价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1FB376-7BEB-411D-B1DF-680B1EB7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647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创作 / 购买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D3B95C-C17A-4049-B3DC-6A8037B6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003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1:N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4B55F2-7EB4-4EDF-B5DE-3D683F14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47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N:M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D2386A-9ED8-4FC7-8A71-0D3CD9D5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386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订单 -&gt; 使用 -&gt; 评价</a:t>
            </a:r>
          </a:p>
        </p:txBody>
      </p:sp>
    </p:spTree>
    <p:extLst>
      <p:ext uri="{BB962C8B-B14F-4D97-AF65-F5344CB8AC3E}">
        <p14:creationId xmlns:p14="http://schemas.microsoft.com/office/powerpoint/2010/main" val="14887062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FD2E20-7206-4CC6-9985-7F7F751B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逻辑与物理设计同时服务业务完整性和查询效率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3D4FA1-2D16-411D-A271-A220853B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表结构覆盖业务关系，索引面向搜索、排行、趋势和用户中心查询。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0AA88-10F8-4672-992E-70071B4D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44FF4-8E4E-4F84-A7C0-B9259E40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1239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B275A-8C38-424E-9197-DCEB0546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数据域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1A4C5D-F087-4B84-9B5D-FD40406C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82880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核心表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756AE-7200-4471-BC5F-2A3EDFE1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2880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设计重点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86649-EE01-4D49-A497-C64ACBA6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0"/>
            <a:ext cx="11239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08C26-1DDF-40FC-9A68-349E5219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111"/>
                </a:solidFill>
              </a:defRPr>
            </a:pPr>
            <a:r>
              <a:rPr sz="1163" b="0">
                <a:solidFill>
                  <a:srgbClr val="111111"/>
                </a:solidFill>
              </a:rPr>
              <a:t>用户域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A90DD7-E570-413F-BFCC-C5344FD4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40030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55555"/>
                </a:solidFill>
              </a:defRPr>
            </a:pPr>
            <a:r>
              <a:rPr sz="1163" b="0">
                <a:solidFill>
                  <a:srgbClr val="555555"/>
                </a:solidFill>
              </a:rPr>
              <a:t>sys_user, user_balance_log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00B47-C7EF-47AA-921E-EE5784C6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00300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55555"/>
                </a:solidFill>
              </a:defRPr>
            </a:pPr>
            <a:r>
              <a:rPr sz="1163" b="0">
                <a:solidFill>
                  <a:srgbClr val="555555"/>
                </a:solidFill>
              </a:rPr>
              <a:t>账号、余额、流水审计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A58BA0-3096-435B-A00E-65212056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6550"/>
            <a:ext cx="11239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52358E-3820-41DF-8161-0992A3AA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111"/>
                </a:solidFill>
              </a:defRPr>
            </a:pPr>
            <a:r>
              <a:rPr sz="1163" b="0">
                <a:solidFill>
                  <a:srgbClr val="111111"/>
                </a:solidFill>
              </a:rPr>
              <a:t>模板域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75F507-2C14-4784-859C-42E5CE78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908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55555"/>
                </a:solidFill>
              </a:defRPr>
            </a:pPr>
            <a:r>
              <a:rPr sz="1163" b="0">
                <a:solidFill>
                  <a:srgbClr val="555555"/>
                </a:solidFill>
              </a:rPr>
              <a:t>prompt_template, prompt_template_version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18855A-BAFA-4D01-8792-E1539B43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90850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55555"/>
                </a:solidFill>
              </a:defRPr>
            </a:pPr>
            <a:r>
              <a:rPr sz="1163" b="0">
                <a:solidFill>
                  <a:srgbClr val="555555"/>
                </a:solidFill>
              </a:rPr>
              <a:t>当前版本指针与历史版本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28D817-7225-4F41-91F3-D5D0459F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67100"/>
            <a:ext cx="11239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BD60A7-E7E7-43E9-80B1-3A1085BB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111"/>
                </a:solidFill>
              </a:defRPr>
            </a:pPr>
            <a:r>
              <a:rPr sz="1163" b="0">
                <a:solidFill>
                  <a:srgbClr val="111111"/>
                </a:solidFill>
              </a:rPr>
              <a:t>分类域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CBFE54-2C96-4929-B1BE-BEDAC8AA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58140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55555"/>
                </a:solidFill>
              </a:defRPr>
            </a:pPr>
            <a:r>
              <a:rPr sz="1163" b="0">
                <a:solidFill>
                  <a:srgbClr val="555555"/>
                </a:solidFill>
              </a:rPr>
              <a:t>tag, template_tag_rel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426303-2574-40C2-B7FE-0D198497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81400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55555"/>
                </a:solidFill>
              </a:defRPr>
            </a:pPr>
            <a:r>
              <a:rPr sz="1163" b="0">
                <a:solidFill>
                  <a:srgbClr val="555555"/>
                </a:solidFill>
              </a:rPr>
              <a:t>多级标签和多对多关系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461688-9A20-48F3-8AEF-F506C2B0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11239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499907-1C05-4F84-ACF8-C33F88EA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111"/>
                </a:solidFill>
              </a:defRPr>
            </a:pPr>
            <a:r>
              <a:rPr sz="1163" b="0">
                <a:solidFill>
                  <a:srgbClr val="111111"/>
                </a:solidFill>
              </a:rPr>
              <a:t>交易域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4EAC4B-666A-4A4D-906F-4E881BF7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1719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55555"/>
                </a:solidFill>
              </a:defRPr>
            </a:pPr>
            <a:r>
              <a:rPr sz="1163" b="0">
                <a:solidFill>
                  <a:srgbClr val="555555"/>
                </a:solidFill>
              </a:rPr>
              <a:t>template_order, template_use_log, template_review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288448-6963-428F-A5DC-527E4E21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71950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55555"/>
                </a:solidFill>
              </a:defRPr>
            </a:pPr>
            <a:r>
              <a:rPr sz="1163" b="0">
                <a:solidFill>
                  <a:srgbClr val="555555"/>
                </a:solidFill>
              </a:rPr>
              <a:t>购买、使用、反馈闭环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B1C904-3EDA-4C4F-964B-1D339517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1239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0318D5-52BD-4059-A28F-9D914AD8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111"/>
                </a:solidFill>
              </a:defRPr>
            </a:pPr>
            <a:r>
              <a:rPr sz="1163" b="0">
                <a:solidFill>
                  <a:srgbClr val="111111"/>
                </a:solidFill>
              </a:rPr>
              <a:t>活动域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9BAA22-02D2-4201-A907-604717B2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76250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55555"/>
                </a:solidFill>
              </a:defRPr>
            </a:pPr>
            <a:r>
              <a:rPr sz="1163" b="0">
                <a:solidFill>
                  <a:srgbClr val="555555"/>
                </a:solidFill>
              </a:rPr>
              <a:t>free_campaign, campaign_template, campaign_claim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DCC185-0BFB-4996-9B8A-67B9C9D3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55555"/>
                </a:solidFill>
              </a:defRPr>
            </a:pPr>
            <a:r>
              <a:rPr sz="1163" b="0">
                <a:solidFill>
                  <a:srgbClr val="555555"/>
                </a:solidFill>
              </a:rPr>
              <a:t>限免库存和防重复领取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33D999-752D-411F-A686-B2234968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816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关键索引：idx_template_filter、idx_template_hot_sort、idx_use_query、idx_order_query。</a:t>
            </a:r>
          </a:p>
        </p:txBody>
      </p:sp>
    </p:spTree>
    <p:extLst>
      <p:ext uri="{BB962C8B-B14F-4D97-AF65-F5344CB8AC3E}">
        <p14:creationId xmlns:p14="http://schemas.microsoft.com/office/powerpoint/2010/main" val="11699231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D239AF-4246-4637-A94B-4A2A5ADD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购买和使用流程体现事务边界与权限校验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DBC2E0-7049-4D6E-A354-6F3367E2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优化后的流程避免重复购买和未购买直接使用付费模板。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84399-AD34-4A95-8397-7700B1B9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6C92D0-BEF3-4DA4-97A2-77F43EF1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08998-4560-4C1F-B4D2-65A4A0DF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FF6B35"/>
                </a:solidFill>
              </a:defRPr>
            </a:pPr>
            <a:r>
              <a:rPr sz="3225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B17ED8-7AF5-4D41-86AA-A43A6599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112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校验模板状态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C77CA-F8E4-4DC1-806F-EE72390A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7813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555555"/>
                </a:solidFill>
              </a:defRPr>
            </a:pPr>
            <a:r>
              <a:rPr sz="2625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EFED63-F983-4610-B9BE-CDB8AD42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6695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4FF71A-C20D-4E59-88C2-B4F9873C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0030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FF6B35"/>
                </a:solidFill>
              </a:defRPr>
            </a:pPr>
            <a:r>
              <a:rPr sz="3225" b="1">
                <a:solidFill>
                  <a:srgbClr val="FF6B35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902C6-D0F7-45A4-BF43-770A9F1D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28950"/>
            <a:ext cx="112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判断已有订单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AFC1B8-BF43-4DFE-8787-27F2EFF1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813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555555"/>
                </a:solidFill>
              </a:defRPr>
            </a:pPr>
            <a:r>
              <a:rPr sz="2625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3BEF89-1951-46C4-B361-09B33550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6695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B4E6BE-86C2-4CBF-95AB-D192513D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0030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FF6B35"/>
                </a:solidFill>
              </a:defRPr>
            </a:pPr>
            <a:r>
              <a:rPr sz="3225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7ED982-E92C-4E4D-AFD4-4197FCB8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112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余额校验与扣减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FD4C4F-4915-4745-ACD3-EEE55604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813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555555"/>
                </a:solidFill>
              </a:defRPr>
            </a:pPr>
            <a:r>
              <a:rPr sz="2625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4D00F3-3FE7-4F02-8245-3C2F51F1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6695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A75D8C-EB9D-43E7-99E4-FCEC021E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030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FF6B35"/>
                </a:solidFill>
              </a:defRPr>
            </a:pPr>
            <a:r>
              <a:rPr sz="3225" b="1">
                <a:solidFill>
                  <a:srgbClr val="FF6B35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1F83CF-3069-4BF9-9A22-6CB69DBF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28950"/>
            <a:ext cx="112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生成订单和流水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9EFD04-F9BE-4E4E-A850-9CFF378F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813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555555"/>
                </a:solidFill>
              </a:defRPr>
            </a:pPr>
            <a:r>
              <a:rPr sz="2625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685AD0-7758-49D7-8326-C3B7D55D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6695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5A26EA-B09B-4DBC-88C5-7474E0C3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0030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FF6B35"/>
                </a:solidFill>
              </a:defRPr>
            </a:pPr>
            <a:r>
              <a:rPr sz="3225" b="1">
                <a:solidFill>
                  <a:srgbClr val="FF6B35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C53D9F-3B3C-43BE-AF0A-8A6AB4C8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28950"/>
            <a:ext cx="112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使用前校验权限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827840-286A-44CD-BA99-1C90F40E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813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555555"/>
                </a:solidFill>
              </a:defRPr>
            </a:pPr>
            <a:r>
              <a:rPr sz="2625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08ACF1-AD8F-414E-9F11-7A355FD5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6695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40E8FF-695A-430B-ACAB-CE4C7525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0030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FF6B35"/>
                </a:solidFill>
              </a:defRPr>
            </a:pPr>
            <a:r>
              <a:rPr sz="3225" b="1">
                <a:solidFill>
                  <a:srgbClr val="FF6B35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0ECFAF-DD56-4688-A5E0-22C10DD2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28950"/>
            <a:ext cx="112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记录版本与日志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D181DF-F624-4BD1-9EA4-64B58596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57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D5F764-F4DA-4221-8266-A0E3EC90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946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重复购买直接返回已有成功订单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69728F-F773-4E07-8A51-646FD4B7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95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6E3B15-1EFD-4770-BC73-EDC606E6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946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付费模板必须先购买才能使用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709919-79CF-49FF-9FAF-BE8EBA46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34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0C7141-40B8-4B61-B1AE-F80A327A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946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使用日志记录当前版本与订单编号</a:t>
            </a:r>
          </a:p>
        </p:txBody>
      </p:sp>
    </p:spTree>
    <p:extLst>
      <p:ext uri="{BB962C8B-B14F-4D97-AF65-F5344CB8AC3E}">
        <p14:creationId xmlns:p14="http://schemas.microsoft.com/office/powerpoint/2010/main" val="35219969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426183-C977-4B43-A3DE-E83D8E7E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前端页面围绕演示路径设计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4FF472-3FAB-400F-AFCE-74E6B143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一个静态前端完成模板市场、详情、个人中心和看板演示。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1063A-B74E-477C-851C-0A797D7F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D18160-2F5E-42F3-809B-47B2FDE6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3333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3FDA4-E3FA-4010-A800-47E99EB8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模板市场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EE393-3A99-4791-88BC-2FCF71A0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990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搜索、标签筛选、排序、评分过滤；卡片展示价格、评分、收藏数和使用量。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0AF84-DFF4-42D1-AB18-203D0FD2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09750"/>
            <a:ext cx="3333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BBCED1-A71E-4B2E-A49B-2224AEA4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8120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详情与交易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65193-F863-4D31-88DF-61995ED1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38400"/>
            <a:ext cx="2990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详情面板展示当前版本提示词，并提供购买、收藏、使用和评价操作。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9C5505-3A69-4F17-9A51-FA124453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3333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BDAC8A-868B-434C-85CE-C54EBDF0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8120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统计看板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6353DD-AFD7-432E-A876-AB39E534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38400"/>
            <a:ext cx="2990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个人中心、创作者看板和平台总览均通过后端 API 获取数据。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D65474-2887-46CE-B179-0A4EBE46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前端默认请求 http://localhost:8080/api，也可以在页面左侧手动修改后端地址。</a:t>
            </a:r>
          </a:p>
        </p:txBody>
      </p:sp>
    </p:spTree>
    <p:extLst>
      <p:ext uri="{BB962C8B-B14F-4D97-AF65-F5344CB8AC3E}">
        <p14:creationId xmlns:p14="http://schemas.microsoft.com/office/powerpoint/2010/main" val="46636302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0C4AC4-41AE-4316-84B9-49B71FE0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并发控制和查询优化是本系统的数据库实验重点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B710F-AF40-4264-981B-340C4CC1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实验关注数据一致性和高频查询性能，而不是只完成页面展示。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1B589-C80F-456D-9284-A7A2B67C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D6AC9-88C6-44FF-92E0-AA2F3C40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1123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4FFBB-1327-4629-8C92-3EA3F07D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实验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C0E09-5E8A-41C9-85B6-BC4A02B2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8859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优化处理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3E11C-C5CC-4719-9DF0-C8685EA2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859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结论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C3C4D1-E545-467C-B930-2A2D168D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1123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2C297F-88BA-4465-A0B6-46F2CC60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111"/>
                </a:solidFill>
              </a:defRPr>
            </a:pPr>
            <a:r>
              <a:rPr sz="1163" b="0">
                <a:solidFill>
                  <a:srgbClr val="111111"/>
                </a:solidFill>
              </a:rPr>
              <a:t>重复购买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13693-C55D-4791-971B-75CF1B72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57175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55555"/>
                </a:solidFill>
              </a:defRPr>
            </a:pPr>
            <a:r>
              <a:rPr sz="1163" b="0">
                <a:solidFill>
                  <a:srgbClr val="555555"/>
                </a:solidFill>
              </a:rPr>
              <a:t>查询已有 SUCCESS 订单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528BE5-F254-4955-BC8A-4A8D72CD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717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55555"/>
                </a:solidFill>
              </a:defRPr>
            </a:pPr>
            <a:r>
              <a:rPr sz="1163" b="0">
                <a:solidFill>
                  <a:srgbClr val="555555"/>
                </a:solidFill>
              </a:rPr>
              <a:t>接口具备幂等性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E7EE1C-2292-412D-AF0F-84423544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1123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2289FA-7CBC-469D-BD28-61869A31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111"/>
                </a:solidFill>
              </a:defRPr>
            </a:pPr>
            <a:r>
              <a:rPr sz="1163" b="0">
                <a:solidFill>
                  <a:srgbClr val="111111"/>
                </a:solidFill>
              </a:rPr>
              <a:t>计数更新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C0ECFE-047E-4781-BFBD-5CDC48FF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27660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55555"/>
                </a:solidFill>
              </a:defRPr>
            </a:pPr>
            <a:r>
              <a:rPr sz="1163" b="0">
                <a:solidFill>
                  <a:srgbClr val="555555"/>
                </a:solidFill>
              </a:rPr>
              <a:t>SQL 原子递增/递减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733FAB-D184-4E98-B23C-27ED3CC6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7660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55555"/>
                </a:solidFill>
              </a:defRPr>
            </a:pPr>
            <a:r>
              <a:rPr sz="1163" b="0">
                <a:solidFill>
                  <a:srgbClr val="555555"/>
                </a:solidFill>
              </a:rPr>
              <a:t>降低丢失更新风险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CE9481-F229-4153-B977-3C92DF1E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1123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ADB346-F864-4354-97A0-59532866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111"/>
                </a:solidFill>
              </a:defRPr>
            </a:pPr>
            <a:r>
              <a:rPr sz="1163" b="0">
                <a:solidFill>
                  <a:srgbClr val="111111"/>
                </a:solidFill>
              </a:rPr>
              <a:t>模板搜索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2EF9E2-8BAB-4DD4-BF5D-75CEF569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98145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55555"/>
                </a:solidFill>
              </a:defRPr>
            </a:pPr>
            <a:r>
              <a:rPr sz="1163" b="0">
                <a:solidFill>
                  <a:srgbClr val="555555"/>
                </a:solidFill>
              </a:rPr>
              <a:t>SQL 条件过滤 + 分页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10D932-88D4-428F-823E-799470B3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814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55555"/>
                </a:solidFill>
              </a:defRPr>
            </a:pPr>
            <a:r>
              <a:rPr sz="1163" b="0">
                <a:solidFill>
                  <a:srgbClr val="555555"/>
                </a:solidFill>
              </a:rPr>
              <a:t>避免内存过滤和分页失真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38569F-2D80-4C77-B61A-5CBE86E2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0"/>
            <a:ext cx="1123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095021-8778-47A0-83A2-F27303D3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111"/>
                </a:solidFill>
              </a:defRPr>
            </a:pPr>
            <a:r>
              <a:rPr sz="1163" b="0">
                <a:solidFill>
                  <a:srgbClr val="111111"/>
                </a:solidFill>
              </a:rPr>
              <a:t>热门排行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06A7C7-05A3-4004-A5D8-CCE29340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8630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55555"/>
                </a:solidFill>
              </a:defRPr>
            </a:pPr>
            <a:r>
              <a:rPr sz="1163" b="0">
                <a:solidFill>
                  <a:srgbClr val="555555"/>
                </a:solidFill>
              </a:rPr>
              <a:t>SQL 聚合近期使用量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ADB79F-3A9F-456C-BCD7-35E9D849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8630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55555"/>
                </a:solidFill>
              </a:defRPr>
            </a:pPr>
            <a:r>
              <a:rPr sz="1163" b="0">
                <a:solidFill>
                  <a:srgbClr val="555555"/>
                </a:solidFill>
              </a:rPr>
              <a:t>减少 Java 侧全量计算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53959D-AB29-4673-9C5E-16DD880F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后端 MockMvc 测试覆盖 7 个核心用例，验证查询、登录、购买幂等、权限校验和取消收藏。</a:t>
            </a:r>
          </a:p>
        </p:txBody>
      </p:sp>
    </p:spTree>
    <p:extLst>
      <p:ext uri="{BB962C8B-B14F-4D97-AF65-F5344CB8AC3E}">
        <p14:creationId xmlns:p14="http://schemas.microsoft.com/office/powerpoint/2010/main" val="73480532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3D1378-6DC4-4743-87A3-24CCC7E8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系统已完成核心闭环，后续可增强真实生产能力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E76C4-5C01-4C0B-ABDF-82AB895E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课程设计版本强调数据库设计完整性、业务流程可演示和结构可扩展。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1D964-459C-4B33-9E38-10AFE96C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F67FEF-39CB-4AD0-BC94-F1319748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3333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9F6C0-07AB-44DD-9806-13EE0F2D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已完成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D1741-F6F5-40AD-9984-F9E920E5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9908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前后端分离、核心表结构、统一服务编排、模板交易使用闭环、统计分析和自动化测试。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49BBE-B2DA-49E1-B4EE-671E2592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09750"/>
            <a:ext cx="3333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E74B59-E553-49AD-A0BF-D5775F17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8120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可改进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5FE7CB-9E59-42AD-9A7B-6406BF89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38400"/>
            <a:ext cx="29908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接入真实登录态、完善活动领取、增强余额并发扣减、增加模板编辑审核和语义推荐。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EF0F8F-92AB-473C-BE87-ECF97E00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3333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21CDE8-6BDE-4100-9DD2-58D97434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8120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提交材料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A510FF-140F-4959-AA3C-5165EA97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38400"/>
            <a:ext cx="29908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课程设计报告、汇报PPT和源代码压缩包；文件名按“小组人员姓名.zip”提交。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9A4E8-0E32-45C5-B657-70BA621A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答辩演示建议路径：启动后端 → 打开前端 → 搜索模板 → 查看详情 → 购买/使用 → 查看个人中心和平台看板。</a:t>
            </a:r>
          </a:p>
        </p:txBody>
      </p:sp>
    </p:spTree>
    <p:extLst>
      <p:ext uri="{BB962C8B-B14F-4D97-AF65-F5344CB8AC3E}">
        <p14:creationId xmlns:p14="http://schemas.microsoft.com/office/powerpoint/2010/main" val="13877073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2026-07-02T14:03:04.7800000Z</dcterms:created>
  <dcterms:modified xsi:type="dcterms:W3CDTF">2026-07-02T14:03:04.7800000Z</dcterms:modified>
</coreProperties>
</file>